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1FC485-BD5C-4019-8069-70D132B7C5DF}">
  <a:tblStyle styleId="{041FC485-BD5C-4019-8069-70D132B7C5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slide" Target="slides/slide19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c7fb35f3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c7fb35f3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7fb35f3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7fb35f3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7fb35f3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7fb35f3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d183f467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d183f467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d183f467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d183f467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d183f467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d183f467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f38c99e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f38c99e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c7fb35f3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c7fb35f3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d183f467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d183f467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f38c99e8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f38c99e8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f38c99e8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f38c99e8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f38c99e8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f38c99e8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183f467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d183f46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f38c99e8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f38c99e8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5fe8b102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5fe8b102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7fb35f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c7fb35f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10b39c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010b39c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015c2b6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015c2b6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5fe8b10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5fe8b10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shtadhyayi.com/" TargetMode="External"/><Relationship Id="rId4" Type="http://schemas.openxmlformats.org/officeDocument/2006/relationships/hyperlink" Target="https://sanskrit.uohyd.ac.in/scl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25100" y="861950"/>
            <a:ext cx="8278915" cy="14734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674EA7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సంస్కృతం నేర్చుకుందాం</a:t>
            </a:r>
          </a:p>
        </p:txBody>
      </p:sp>
      <p:sp>
        <p:nvSpPr>
          <p:cNvPr id="55" name="Google Shape;55;p13"/>
          <p:cNvSpPr/>
          <p:nvPr/>
        </p:nvSpPr>
        <p:spPr>
          <a:xfrm>
            <a:off x="2426800" y="2762575"/>
            <a:ext cx="3917100" cy="120402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674EA7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मूलरूपम्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502279" y="117225"/>
            <a:ext cx="2139448" cy="9036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4D29AA"/>
                    </a:gs>
                    <a:gs pos="100000">
                      <a:srgbClr val="1E123D"/>
                    </a:gs>
                  </a:gsLst>
                  <a:lin ang="5400012" scaled="0"/>
                </a:gradFill>
                <a:latin typeface="Arial"/>
              </a:rPr>
              <a:t>पदम्</a:t>
            </a:r>
          </a:p>
        </p:txBody>
      </p:sp>
      <p:sp>
        <p:nvSpPr>
          <p:cNvPr id="61" name="Google Shape;61;p14"/>
          <p:cNvSpPr/>
          <p:nvPr/>
        </p:nvSpPr>
        <p:spPr>
          <a:xfrm>
            <a:off x="972025" y="1616300"/>
            <a:ext cx="2139450" cy="117767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तिङन्तपदम्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(क्रियापदम्)</a:t>
            </a:r>
          </a:p>
        </p:txBody>
      </p:sp>
      <p:sp>
        <p:nvSpPr>
          <p:cNvPr id="62" name="Google Shape;62;p14"/>
          <p:cNvSpPr/>
          <p:nvPr/>
        </p:nvSpPr>
        <p:spPr>
          <a:xfrm>
            <a:off x="5936625" y="1616300"/>
            <a:ext cx="2139452" cy="1177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सुबन्तपदम्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(नामपदम्)</a:t>
            </a:r>
          </a:p>
        </p:txBody>
      </p:sp>
      <p:sp>
        <p:nvSpPr>
          <p:cNvPr id="63" name="Google Shape;63;p14"/>
          <p:cNvSpPr/>
          <p:nvPr/>
        </p:nvSpPr>
        <p:spPr>
          <a:xfrm>
            <a:off x="2009212" y="3810925"/>
            <a:ext cx="5125572" cy="7711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51AB2A"/>
                    </a:gs>
                    <a:gs pos="100000">
                      <a:srgbClr val="203E1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प्रकृति:( मूलरूपम्) + प्रत्ययः</a:t>
            </a:r>
          </a:p>
        </p:txBody>
      </p:sp>
      <p:cxnSp>
        <p:nvCxnSpPr>
          <p:cNvPr id="64" name="Google Shape;64;p14"/>
          <p:cNvCxnSpPr/>
          <p:nvPr/>
        </p:nvCxnSpPr>
        <p:spPr>
          <a:xfrm flipH="1">
            <a:off x="2144325" y="639875"/>
            <a:ext cx="1245600" cy="7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4"/>
          <p:cNvCxnSpPr/>
          <p:nvPr/>
        </p:nvCxnSpPr>
        <p:spPr>
          <a:xfrm>
            <a:off x="5783150" y="664925"/>
            <a:ext cx="1606800" cy="75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4"/>
          <p:cNvCxnSpPr/>
          <p:nvPr/>
        </p:nvCxnSpPr>
        <p:spPr>
          <a:xfrm>
            <a:off x="1452500" y="2917100"/>
            <a:ext cx="1190100" cy="77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/>
          <p:nvPr/>
        </p:nvCxnSpPr>
        <p:spPr>
          <a:xfrm flipH="1">
            <a:off x="6284800" y="2793975"/>
            <a:ext cx="1245600" cy="7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2583237" y="117225"/>
            <a:ext cx="3977528" cy="566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4D29AA"/>
                    </a:gs>
                    <a:gs pos="100000">
                      <a:srgbClr val="1E123D"/>
                    </a:gs>
                  </a:gsLst>
                  <a:lin ang="5400012" scaled="0"/>
                </a:gradFill>
                <a:latin typeface="Arial"/>
              </a:rPr>
              <a:t>तिङन्तपदम् (क्रियापदम्)</a:t>
            </a:r>
          </a:p>
        </p:txBody>
      </p:sp>
      <p:sp>
        <p:nvSpPr>
          <p:cNvPr id="73" name="Google Shape;73;p15"/>
          <p:cNvSpPr txBox="1"/>
          <p:nvPr/>
        </p:nvSpPr>
        <p:spPr>
          <a:xfrm>
            <a:off x="5265625" y="1101675"/>
            <a:ext cx="32532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A61C00"/>
                </a:solidFill>
              </a:rPr>
              <a:t>मूलरूपम् - </a:t>
            </a:r>
            <a:r>
              <a:rPr b="1" lang="en" sz="1900">
                <a:solidFill>
                  <a:srgbClr val="E69138"/>
                </a:solidFill>
              </a:rPr>
              <a:t>धातु:</a:t>
            </a:r>
            <a:endParaRPr b="1" sz="1900">
              <a:solidFill>
                <a:srgbClr val="E691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A61C00"/>
                </a:solidFill>
              </a:rPr>
              <a:t>प्रत्यया: - </a:t>
            </a:r>
            <a:r>
              <a:rPr b="1" lang="en" sz="1900">
                <a:solidFill>
                  <a:srgbClr val="E69138"/>
                </a:solidFill>
              </a:rPr>
              <a:t>१८ (18) तिङ् प्रत्यया:</a:t>
            </a:r>
            <a:endParaRPr b="1" sz="1900">
              <a:solidFill>
                <a:srgbClr val="E691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BF9000"/>
                </a:solidFill>
              </a:rPr>
              <a:t>१०(10) लकाराः सन्ति </a:t>
            </a:r>
            <a:endParaRPr b="1" sz="1900">
              <a:solidFill>
                <a:srgbClr val="BF9000"/>
              </a:solidFill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131900" y="211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994400"/>
                <a:gridCol w="994400"/>
                <a:gridCol w="994400"/>
                <a:gridCol w="994400"/>
              </a:tblGrid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741B47"/>
                          </a:solidFill>
                        </a:rPr>
                        <a:t>परस्मैपदी </a:t>
                      </a:r>
                      <a:endParaRPr b="1" sz="1300">
                        <a:solidFill>
                          <a:srgbClr val="741B47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एकवचनम्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द्विवचनम्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बहुवचनम्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प्रथमपुरुष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45818E"/>
                          </a:solidFill>
                        </a:rPr>
                        <a:t>ति</a:t>
                      </a:r>
                      <a:r>
                        <a:rPr lang="en" sz="1300"/>
                        <a:t>प् 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तस्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झि</a:t>
                      </a:r>
                      <a:endParaRPr sz="1300"/>
                    </a:p>
                  </a:txBody>
                  <a:tcPr marT="91425" marB="91425" marR="91425" marL="91425" anchor="ctr"/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मध्यमपुरुष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सिप् 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थस्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थ</a:t>
                      </a:r>
                      <a:endParaRPr sz="1300"/>
                    </a:p>
                  </a:txBody>
                  <a:tcPr marT="91425" marB="91425" marR="91425" marL="91425" anchor="ctr"/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उत्तमपुरुष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मिप्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वस्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मस्</a:t>
                      </a:r>
                      <a:endParaRPr sz="13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5" name="Google Shape;75;p15"/>
          <p:cNvGraphicFramePr/>
          <p:nvPr/>
        </p:nvGraphicFramePr>
        <p:xfrm>
          <a:off x="5037975" y="299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994400"/>
                <a:gridCol w="994400"/>
                <a:gridCol w="994400"/>
                <a:gridCol w="994400"/>
              </a:tblGrid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rgbClr val="741B47"/>
                          </a:solidFill>
                        </a:rPr>
                        <a:t>आत्मनेपदी</a:t>
                      </a:r>
                      <a:endParaRPr b="1" sz="1300">
                        <a:solidFill>
                          <a:srgbClr val="741B47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एकवचनम्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द्विवचनम्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बहुवचनम्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प्रथमपुरुष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त 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आताम्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झ</a:t>
                      </a:r>
                      <a:endParaRPr sz="1300"/>
                    </a:p>
                  </a:txBody>
                  <a:tcPr marT="91425" marB="91425" marR="91425" marL="91425" anchor="ctr"/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मध्यमपुरुष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थास्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आथाम्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ध्वम्</a:t>
                      </a:r>
                      <a:endParaRPr sz="1300"/>
                    </a:p>
                  </a:txBody>
                  <a:tcPr marT="91425" marB="91425" marR="91425" marL="91425" anchor="ctr"/>
                </a:tc>
              </a:tr>
              <a:tr h="3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उत्तमपुरुष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इट्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व</a:t>
                      </a:r>
                      <a:r>
                        <a:rPr lang="en" sz="1300"/>
                        <a:t>हि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म</a:t>
                      </a:r>
                      <a:r>
                        <a:rPr lang="en" sz="1300"/>
                        <a:t>हि</a:t>
                      </a:r>
                      <a:r>
                        <a:rPr b="1" lang="en" sz="2100">
                          <a:solidFill>
                            <a:srgbClr val="45818E"/>
                          </a:solidFill>
                        </a:rPr>
                        <a:t>ङ्</a:t>
                      </a:r>
                      <a:endParaRPr b="1" sz="2100">
                        <a:solidFill>
                          <a:srgbClr val="45818E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6" name="Google Shape;76;p15"/>
          <p:cNvSpPr txBox="1"/>
          <p:nvPr/>
        </p:nvSpPr>
        <p:spPr>
          <a:xfrm>
            <a:off x="0" y="4274050"/>
            <a:ext cx="457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41B47"/>
                </a:solidFill>
              </a:rPr>
              <a:t>पदस्य अन्ते </a:t>
            </a:r>
            <a:r>
              <a:rPr b="1" lang="en" sz="1700">
                <a:solidFill>
                  <a:srgbClr val="741B47"/>
                </a:solidFill>
              </a:rPr>
              <a:t>तिङ् अस्ति - तिङन्तपदम् (क्रियापदम्)</a:t>
            </a:r>
            <a:r>
              <a:rPr b="1" lang="en" sz="1700">
                <a:solidFill>
                  <a:srgbClr val="741B47"/>
                </a:solidFill>
              </a:rPr>
              <a:t> </a:t>
            </a:r>
            <a:endParaRPr b="1" sz="17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518100" y="125725"/>
            <a:ext cx="210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C1130"/>
                </a:solidFill>
              </a:rPr>
              <a:t>पठ् - </a:t>
            </a:r>
            <a:r>
              <a:rPr b="1" lang="en" sz="1900">
                <a:solidFill>
                  <a:srgbClr val="4C1130"/>
                </a:solidFill>
              </a:rPr>
              <a:t>परस्मैपदी</a:t>
            </a:r>
            <a:endParaRPr b="1" sz="1900">
              <a:solidFill>
                <a:srgbClr val="4C1130"/>
              </a:solidFill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72500" y="28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33725"/>
                <a:gridCol w="1033725"/>
                <a:gridCol w="1033725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वर्तमानकालम्(लट्-लकार:)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पठति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</a:t>
                      </a:r>
                      <a:r>
                        <a:rPr b="1" lang="en" sz="1100"/>
                        <a:t>त: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</a:t>
                      </a:r>
                      <a:r>
                        <a:rPr b="1" lang="en" sz="1100"/>
                        <a:t>न्ति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पठसि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</a:t>
                      </a:r>
                      <a:r>
                        <a:rPr b="1" lang="en" sz="1100"/>
                        <a:t>थ: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</a:t>
                      </a:r>
                      <a:r>
                        <a:rPr b="1" lang="en" sz="1100"/>
                        <a:t>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पठा</a:t>
                      </a:r>
                      <a:r>
                        <a:rPr b="1" lang="en" sz="1100"/>
                        <a:t>मि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पठाव: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पठाम: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" name="Google Shape;83;p16"/>
          <p:cNvGraphicFramePr/>
          <p:nvPr/>
        </p:nvGraphicFramePr>
        <p:xfrm>
          <a:off x="272500" y="72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33725"/>
                <a:gridCol w="1033725"/>
                <a:gridCol w="1033725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वर्तमानकालम्(लट्-लकार:)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</a:tr>
              <a:tr h="31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पठ्  +  अति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अत: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</a:t>
                      </a:r>
                      <a:r>
                        <a:rPr b="1" lang="en" sz="1100"/>
                        <a:t>न्ति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असि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अथ: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</a:t>
                      </a:r>
                      <a:r>
                        <a:rPr b="1" lang="en" sz="1100"/>
                        <a:t>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आमि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आव: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+"/>
                      </a:pPr>
                      <a:r>
                        <a:rPr b="1" lang="en" sz="1100"/>
                        <a:t>आ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म: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" name="Google Shape;84;p16"/>
          <p:cNvGraphicFramePr/>
          <p:nvPr/>
        </p:nvGraphicFramePr>
        <p:xfrm>
          <a:off x="4277050" y="71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86100"/>
                <a:gridCol w="1086100"/>
                <a:gridCol w="1086100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भविष्यत्कालम्(लृट्-लकार:)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  <a:tc hMerge="1"/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प</a:t>
                      </a:r>
                      <a:r>
                        <a:rPr b="1" lang="en" sz="1100"/>
                        <a:t>ठ् </a:t>
                      </a:r>
                      <a:r>
                        <a:rPr b="1" lang="en" sz="1100"/>
                        <a:t> + </a:t>
                      </a:r>
                      <a:r>
                        <a:rPr b="1" lang="en" sz="1100"/>
                        <a:t>इ</a:t>
                      </a:r>
                      <a:r>
                        <a:rPr b="1" lang="en" sz="1100"/>
                        <a:t>ष्यति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ष्यत: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ष्यन्ति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ष्यसि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ष्यथ: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ष्यामि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ष्याव: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ष्याम: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" name="Google Shape;85;p16"/>
          <p:cNvGraphicFramePr/>
          <p:nvPr/>
        </p:nvGraphicFramePr>
        <p:xfrm>
          <a:off x="4277050" y="28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86100"/>
                <a:gridCol w="1086100"/>
                <a:gridCol w="1086100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भविष्यत्कालम्(लृट्-लकार:)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  <a:tc hMerge="1"/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पठिष्यति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ष्यत: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ष्यन्ति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ष्यसि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ष्यथ: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ष्यामि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ष्याव: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पठि</a:t>
                      </a:r>
                      <a:r>
                        <a:rPr b="1" lang="en" sz="1100"/>
                        <a:t>ष्याम: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6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3349650" y="140375"/>
            <a:ext cx="244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C1130"/>
                </a:solidFill>
              </a:rPr>
              <a:t>भाष्</a:t>
            </a:r>
            <a:r>
              <a:rPr b="1" lang="en" sz="1900">
                <a:solidFill>
                  <a:srgbClr val="4C1130"/>
                </a:solidFill>
              </a:rPr>
              <a:t> - </a:t>
            </a:r>
            <a:r>
              <a:rPr b="1" lang="en" sz="1900">
                <a:solidFill>
                  <a:srgbClr val="4C1130"/>
                </a:solidFill>
              </a:rPr>
              <a:t>आत्मनेपदी</a:t>
            </a:r>
            <a:endParaRPr b="1" sz="1900">
              <a:solidFill>
                <a:srgbClr val="4C1130"/>
              </a:solidFill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272500" y="28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33725"/>
                <a:gridCol w="1033725"/>
                <a:gridCol w="1033725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वर्तमानकालम्(लट्-लकार:)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 hMerge="1"/>
                <a:tc hMerge="1"/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भाषते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भाषेते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भाषन्ते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भाषसे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भाषेथे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भाषध्वे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भाषे</a:t>
                      </a:r>
                      <a:r>
                        <a:rPr b="1" lang="en" sz="1100"/>
                        <a:t>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भाषावहे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भाषामहे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Google Shape;92;p17"/>
          <p:cNvGraphicFramePr/>
          <p:nvPr/>
        </p:nvGraphicFramePr>
        <p:xfrm>
          <a:off x="272500" y="72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33725"/>
                <a:gridCol w="1033725"/>
                <a:gridCol w="1033725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वर्तमानकालम्(लट्-लकार:)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 hMerge="1"/>
                <a:tc hMerge="1"/>
              </a:tr>
              <a:tr h="31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भाष्</a:t>
                      </a:r>
                      <a:r>
                        <a:rPr b="1" lang="en" sz="1100"/>
                        <a:t>  +  अत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एते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अन्त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अस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एथे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अ</a:t>
                      </a:r>
                      <a:r>
                        <a:rPr b="1" lang="en" sz="1100"/>
                        <a:t>ध्वे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/>
                        <a:t>ए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आव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+"/>
                      </a:pPr>
                      <a:r>
                        <a:rPr b="1" lang="en" sz="1100"/>
                        <a:t>आ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म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B8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Google Shape;93;p17"/>
          <p:cNvGraphicFramePr/>
          <p:nvPr/>
        </p:nvGraphicFramePr>
        <p:xfrm>
          <a:off x="4277050" y="71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140600"/>
                <a:gridCol w="1140600"/>
                <a:gridCol w="1140600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भविष्यत्कालम्(लृट्-लकार:)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भाष्  + </a:t>
                      </a:r>
                      <a:r>
                        <a:rPr b="1" lang="en" sz="1100"/>
                        <a:t> इष्यत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ेते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ष्यन्त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ष्यस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ेथे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ध्वे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े</a:t>
                      </a:r>
                      <a:r>
                        <a:rPr b="1" lang="en" sz="1100"/>
                        <a:t>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ष्याव</a:t>
                      </a:r>
                      <a:r>
                        <a:rPr b="1" lang="en" sz="1100"/>
                        <a:t>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+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इ</a:t>
                      </a:r>
                      <a:r>
                        <a:rPr b="1" lang="en" sz="1100"/>
                        <a:t>ष्याम</a:t>
                      </a:r>
                      <a:r>
                        <a:rPr b="1" lang="en" sz="1100"/>
                        <a:t>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" name="Google Shape;94;p17"/>
          <p:cNvGraphicFramePr/>
          <p:nvPr/>
        </p:nvGraphicFramePr>
        <p:xfrm>
          <a:off x="4277050" y="28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86100"/>
                <a:gridCol w="1086100"/>
                <a:gridCol w="1086100"/>
              </a:tblGrid>
              <a:tr h="3935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5B0F00"/>
                          </a:solidFill>
                        </a:rPr>
                        <a:t>भविष्यत्कालम्(लृट्-लकार:) </a:t>
                      </a:r>
                      <a:endParaRPr b="1" sz="1100">
                        <a:solidFill>
                          <a:srgbClr val="5B0F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 hMerge="1"/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भाषि</a:t>
                      </a:r>
                      <a:r>
                        <a:rPr b="1" lang="en" sz="1100"/>
                        <a:t>ष्यत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ेते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ष्यन्त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ष्यस</a:t>
                      </a:r>
                      <a:r>
                        <a:rPr b="1" lang="en" sz="1100"/>
                        <a:t>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ेथे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ध्वे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</a:t>
                      </a:r>
                      <a:r>
                        <a:rPr b="1" lang="en" sz="1100"/>
                        <a:t>े</a:t>
                      </a:r>
                      <a:r>
                        <a:rPr b="1" lang="en" sz="1100"/>
                        <a:t>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ष्याव</a:t>
                      </a:r>
                      <a:r>
                        <a:rPr b="1" lang="en" sz="1100"/>
                        <a:t>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भाषि</a:t>
                      </a:r>
                      <a:r>
                        <a:rPr b="1" lang="en" sz="1100"/>
                        <a:t>ष्याम</a:t>
                      </a:r>
                      <a:r>
                        <a:rPr b="1" lang="en" sz="1100"/>
                        <a:t>हे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8"/>
          <p:cNvGraphicFramePr/>
          <p:nvPr/>
        </p:nvGraphicFramePr>
        <p:xfrm>
          <a:off x="103000" y="15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894475"/>
                <a:gridCol w="894475"/>
              </a:tblGrid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rgbClr val="1155CC"/>
                          </a:solidFill>
                        </a:rPr>
                        <a:t>धातु:</a:t>
                      </a:r>
                      <a:endParaRPr b="1" sz="1700">
                        <a:solidFill>
                          <a:srgbClr val="1155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rgbClr val="1155CC"/>
                          </a:solidFill>
                        </a:rPr>
                        <a:t>पदम्</a:t>
                      </a:r>
                      <a:endParaRPr b="1" sz="1700">
                        <a:solidFill>
                          <a:srgbClr val="1155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गम्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गच्छति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खाद्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खादति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पठ्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पठति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" name="Google Shape;100;p18"/>
          <p:cNvGraphicFramePr/>
          <p:nvPr/>
        </p:nvGraphicFramePr>
        <p:xfrm>
          <a:off x="2529775" y="168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894475"/>
                <a:gridCol w="894475"/>
              </a:tblGrid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गौ 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गायाति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तॄ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तरति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जि 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जयति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भ्रम् 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भ्रमति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" name="Google Shape;101;p18"/>
          <p:cNvGraphicFramePr/>
          <p:nvPr/>
        </p:nvGraphicFramePr>
        <p:xfrm>
          <a:off x="4956550" y="299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894475"/>
                <a:gridCol w="894475"/>
              </a:tblGrid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दा 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ददाति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कृ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करोति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श्रु 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श्रुणोति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दृश् 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FFF"/>
                        </a:gs>
                        <a:gs pos="100000">
                          <a:srgbClr val="B3B3B3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पश्यति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C113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3753750" y="83025"/>
            <a:ext cx="163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741B47"/>
                </a:solidFill>
              </a:rPr>
              <a:t>१० लकारा:</a:t>
            </a:r>
            <a:endParaRPr b="1" sz="2500">
              <a:solidFill>
                <a:srgbClr val="741B47"/>
              </a:solidFill>
            </a:endParaRPr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952500" y="78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3619500"/>
                <a:gridCol w="3619500"/>
              </a:tblGrid>
              <a:tr h="38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लट् 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वर्तमानकालम्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लेट् 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वेद: (वर्तमानकालम्)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लुङ्,</a:t>
                      </a:r>
                      <a:endParaRPr sz="1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लङ्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लिट्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भूतकाल: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लृट्, </a:t>
                      </a:r>
                      <a:endParaRPr sz="1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लुट्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भविष्यत्काल: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लृ</a:t>
                      </a:r>
                      <a:r>
                        <a:rPr lang="en" sz="1900">
                          <a:solidFill>
                            <a:schemeClr val="dk1"/>
                          </a:solidFill>
                        </a:rPr>
                        <a:t>ङ्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भूतकाल: + भविष्यत्काल: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लोट् </a:t>
                      </a:r>
                      <a:endParaRPr sz="1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विधिलि</a:t>
                      </a:r>
                      <a:r>
                        <a:rPr lang="en" sz="1900">
                          <a:solidFill>
                            <a:schemeClr val="dk1"/>
                          </a:solidFill>
                        </a:rPr>
                        <a:t>ङ्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आशिर्लिङ्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प्रार्थना/आज्ञ</a:t>
                      </a:r>
                      <a:endParaRPr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2583237" y="117225"/>
            <a:ext cx="3731893" cy="56511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4D29AA"/>
                    </a:gs>
                    <a:gs pos="100000">
                      <a:srgbClr val="1E123D"/>
                    </a:gs>
                  </a:gsLst>
                  <a:lin ang="5400012" scaled="0"/>
                </a:gradFill>
                <a:latin typeface="Arial"/>
              </a:rPr>
              <a:t>सुबन्तपदम् (नामपदम्)</a:t>
            </a:r>
          </a:p>
        </p:txBody>
      </p:sp>
      <p:graphicFrame>
        <p:nvGraphicFramePr>
          <p:cNvPr id="113" name="Google Shape;113;p20"/>
          <p:cNvGraphicFramePr/>
          <p:nvPr/>
        </p:nvGraphicFramePr>
        <p:xfrm>
          <a:off x="205150" y="168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760600"/>
                <a:gridCol w="1019500"/>
                <a:gridCol w="937750"/>
                <a:gridCol w="901650"/>
              </a:tblGrid>
              <a:tr h="41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एकवचनम्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द्विवचनम्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बहुवचनम्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प्र.वि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38761D"/>
                          </a:solidFill>
                        </a:rPr>
                        <a:t>सुँ</a:t>
                      </a:r>
                      <a:endParaRPr b="1" sz="2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औ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जस्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द्वि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अम्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औट्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शस्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तृ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टा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भ्याम्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भिस्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च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ङे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भ्याम्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भ्यस्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प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ङसि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भ्याम्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भ्यस्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ष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ङस्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ओस्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आम्</a:t>
                      </a:r>
                      <a:endParaRPr b="1" sz="1300"/>
                    </a:p>
                  </a:txBody>
                  <a:tcPr marT="91425" marB="91425" marR="91425" marL="91425" anchor="ctr"/>
                </a:tc>
              </a:tr>
              <a:tr h="36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स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.वि </a:t>
                      </a:r>
                      <a:endParaRPr b="1" sz="1300"/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ङि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ओस् </a:t>
                      </a:r>
                      <a:endParaRPr b="1"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सु</a:t>
                      </a:r>
                      <a:r>
                        <a:rPr b="1" lang="en" sz="2100">
                          <a:solidFill>
                            <a:srgbClr val="38761D"/>
                          </a:solidFill>
                        </a:rPr>
                        <a:t>प्</a:t>
                      </a:r>
                      <a:endParaRPr b="1" sz="2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4" name="Google Shape;114;p20"/>
          <p:cNvSpPr txBox="1"/>
          <p:nvPr/>
        </p:nvSpPr>
        <p:spPr>
          <a:xfrm>
            <a:off x="5159025" y="1015150"/>
            <a:ext cx="3619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मूलरूपम्</a:t>
            </a:r>
            <a:r>
              <a:rPr b="1" lang="en" sz="1900">
                <a:solidFill>
                  <a:srgbClr val="7F6000"/>
                </a:solidFill>
              </a:rPr>
              <a:t> - </a:t>
            </a:r>
            <a:r>
              <a:rPr b="1" lang="en" sz="1900">
                <a:solidFill>
                  <a:srgbClr val="134F5C"/>
                </a:solidFill>
              </a:rPr>
              <a:t>प्रातिपदिकम्</a:t>
            </a:r>
            <a:endParaRPr b="1" sz="1900">
              <a:solidFill>
                <a:srgbClr val="134F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प्रत्यय</a:t>
            </a:r>
            <a:r>
              <a:rPr b="1" lang="en" sz="1900">
                <a:solidFill>
                  <a:srgbClr val="7F6000"/>
                </a:solidFill>
              </a:rPr>
              <a:t>ा</a:t>
            </a:r>
            <a:r>
              <a:rPr b="1" lang="en" sz="1900">
                <a:solidFill>
                  <a:srgbClr val="7F6000"/>
                </a:solidFill>
              </a:rPr>
              <a:t>: - </a:t>
            </a:r>
            <a:r>
              <a:rPr b="1" lang="en" sz="1900">
                <a:solidFill>
                  <a:srgbClr val="134F5C"/>
                </a:solidFill>
              </a:rPr>
              <a:t>२१(21)</a:t>
            </a:r>
            <a:r>
              <a:rPr b="1" lang="en" sz="1900">
                <a:solidFill>
                  <a:srgbClr val="134F5C"/>
                </a:solidFill>
              </a:rPr>
              <a:t> </a:t>
            </a:r>
            <a:r>
              <a:rPr b="1" lang="en" sz="1900">
                <a:solidFill>
                  <a:srgbClr val="134F5C"/>
                </a:solidFill>
              </a:rPr>
              <a:t>सुप्</a:t>
            </a:r>
            <a:r>
              <a:rPr b="1" lang="en" sz="1900">
                <a:solidFill>
                  <a:srgbClr val="134F5C"/>
                </a:solidFill>
              </a:rPr>
              <a:t> प्रत्यय</a:t>
            </a:r>
            <a:r>
              <a:rPr b="1" lang="en" sz="1900">
                <a:solidFill>
                  <a:srgbClr val="134F5C"/>
                </a:solidFill>
              </a:rPr>
              <a:t>ा</a:t>
            </a:r>
            <a:r>
              <a:rPr b="1" lang="en" sz="1900">
                <a:solidFill>
                  <a:srgbClr val="134F5C"/>
                </a:solidFill>
              </a:rPr>
              <a:t>:</a:t>
            </a:r>
            <a:endParaRPr b="1" sz="1900">
              <a:solidFill>
                <a:srgbClr val="134F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5B0F00"/>
                </a:solidFill>
              </a:rPr>
              <a:t>७ (7) </a:t>
            </a:r>
            <a:r>
              <a:rPr b="1" lang="en" sz="1900">
                <a:solidFill>
                  <a:srgbClr val="5B0F00"/>
                </a:solidFill>
              </a:rPr>
              <a:t>विभक्तय: सन्ति </a:t>
            </a:r>
            <a:endParaRPr b="1" sz="1900">
              <a:solidFill>
                <a:srgbClr val="5B0F00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4014925" y="2571750"/>
            <a:ext cx="449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41B47"/>
                </a:solidFill>
              </a:rPr>
              <a:t>पदस्य अन्ते </a:t>
            </a:r>
            <a:r>
              <a:rPr b="1" lang="en" sz="1700">
                <a:solidFill>
                  <a:srgbClr val="741B47"/>
                </a:solidFill>
              </a:rPr>
              <a:t>सुप् </a:t>
            </a:r>
            <a:r>
              <a:rPr b="1" lang="en" sz="1700">
                <a:solidFill>
                  <a:srgbClr val="741B47"/>
                </a:solidFill>
              </a:rPr>
              <a:t>अस्ति - </a:t>
            </a:r>
            <a:r>
              <a:rPr b="1" lang="en" sz="1700">
                <a:solidFill>
                  <a:srgbClr val="741B47"/>
                </a:solidFill>
              </a:rPr>
              <a:t>सुबन्त </a:t>
            </a:r>
            <a:r>
              <a:rPr b="1" lang="en" sz="1700">
                <a:solidFill>
                  <a:srgbClr val="741B47"/>
                </a:solidFill>
              </a:rPr>
              <a:t>पदम् (</a:t>
            </a:r>
            <a:r>
              <a:rPr b="1" lang="en" sz="1700">
                <a:solidFill>
                  <a:srgbClr val="741B47"/>
                </a:solidFill>
              </a:rPr>
              <a:t>नाम</a:t>
            </a:r>
            <a:r>
              <a:rPr b="1" lang="en" sz="1700">
                <a:solidFill>
                  <a:srgbClr val="741B47"/>
                </a:solidFill>
              </a:rPr>
              <a:t>पदम्) </a:t>
            </a:r>
            <a:endParaRPr b="1" sz="17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41B47"/>
                </a:solidFill>
              </a:rPr>
              <a:t>सुप् - अन्तः  = सुबन्त</a:t>
            </a:r>
            <a:endParaRPr b="1" sz="17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21"/>
          <p:cNvGraphicFramePr/>
          <p:nvPr/>
        </p:nvGraphicFramePr>
        <p:xfrm>
          <a:off x="5897450" y="-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38225"/>
                <a:gridCol w="1038225"/>
                <a:gridCol w="1038225"/>
              </a:tblGrid>
              <a:tr h="4433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आकारान्त स्त्रीलिङ्गम् 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 hMerge="1"/>
                <a:tc hMerge="1"/>
              </a:tr>
              <a:tr h="44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अजे</a:t>
                      </a:r>
                      <a:r>
                        <a:rPr lang="en" sz="1500"/>
                        <a:t>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/>
                        <a:t>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4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अजे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/>
                        <a:t>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/>
                        <a:t>भि: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यै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/>
                        <a:t>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अजाना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4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सु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6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अजे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!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अजे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!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: !</a:t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Google Shape;121;p21"/>
          <p:cNvGraphicFramePr/>
          <p:nvPr/>
        </p:nvGraphicFramePr>
        <p:xfrm>
          <a:off x="0" y="-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524000"/>
                <a:gridCol w="1524000"/>
                <a:gridCol w="1524000"/>
              </a:tblGrid>
              <a:tr h="41847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आकारान्त स्त्रीलिङ्गम् -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  <a:tc hMerge="1"/>
              </a:tr>
              <a:tr h="41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 + (-आ) ए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 </a:t>
                      </a:r>
                      <a:r>
                        <a:rPr lang="en" sz="1500"/>
                        <a:t>+ </a:t>
                      </a:r>
                      <a:r>
                        <a:rPr lang="en" sz="1500"/>
                        <a:t>ः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1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(-आ)  ए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+</a:t>
                      </a:r>
                      <a:r>
                        <a:rPr lang="en" sz="1500"/>
                        <a:t>ः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(-आ) 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+भि: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यै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+भ्याम्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+ 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 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 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(-आ)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 </a:t>
                      </a:r>
                      <a:r>
                        <a:rPr lang="en" sz="1500"/>
                        <a:t>ना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0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(-आ)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 सु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4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 + (-आ) ए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(-आ) ए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ः</a:t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22"/>
          <p:cNvGraphicFramePr/>
          <p:nvPr/>
        </p:nvGraphicFramePr>
        <p:xfrm>
          <a:off x="6029325" y="-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038225"/>
                <a:gridCol w="1038225"/>
                <a:gridCol w="1038225"/>
              </a:tblGrid>
              <a:tr h="4433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अ</a:t>
                      </a:r>
                      <a:r>
                        <a:rPr b="1" lang="en" sz="1500"/>
                        <a:t>कारान्त </a:t>
                      </a: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पुं</a:t>
                      </a:r>
                      <a:r>
                        <a:rPr b="1" lang="en" sz="1500"/>
                        <a:t>लिङ्गम् -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अज: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</a:tr>
              <a:tr h="44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जौ</a:t>
                      </a:r>
                      <a:r>
                        <a:rPr lang="en" sz="1500"/>
                        <a:t>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4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अजौ 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/>
                        <a:t>न्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जेन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</a:t>
                      </a:r>
                      <a:r>
                        <a:rPr lang="en" sz="1500"/>
                        <a:t>ै: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</a:t>
                      </a:r>
                      <a:r>
                        <a:rPr lang="en" sz="1500"/>
                        <a:t>े</a:t>
                      </a:r>
                      <a:r>
                        <a:rPr lang="en" sz="1500"/>
                        <a:t>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जात्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</a:t>
                      </a:r>
                      <a:r>
                        <a:rPr lang="en" sz="1500"/>
                        <a:t>े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7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/>
                        <a:t>स्य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/>
                        <a:t>अजा</a:t>
                      </a:r>
                      <a:r>
                        <a:rPr lang="en" sz="1500"/>
                        <a:t>ना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4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जे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ेषु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8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!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अजौ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!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: !</a:t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22"/>
          <p:cNvGraphicFramePr/>
          <p:nvPr/>
        </p:nvGraphicFramePr>
        <p:xfrm>
          <a:off x="0" y="-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484925"/>
                <a:gridCol w="1484925"/>
                <a:gridCol w="1484925"/>
              </a:tblGrid>
              <a:tr h="41847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अ</a:t>
                      </a:r>
                      <a:r>
                        <a:rPr b="1" lang="en" sz="1500"/>
                        <a:t>कारान्त </a:t>
                      </a:r>
                      <a:r>
                        <a:rPr b="1" lang="en" sz="1500"/>
                        <a:t>पुं</a:t>
                      </a:r>
                      <a:r>
                        <a:rPr b="1" lang="en" sz="1500"/>
                        <a:t>लिङ्गम् -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hMerge="1"/>
                <a:tc hMerge="1"/>
              </a:tr>
              <a:tr h="41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अज + </a:t>
                      </a:r>
                      <a:r>
                        <a:rPr lang="en" sz="1500"/>
                        <a:t>ः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 + (-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)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औ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अ)आः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1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औ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अ)आन्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500"/>
                        <a:t>एन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+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 (- अ) आ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भ्याम्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+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(- अ)ऐः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आय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आभ्याम्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+(- अ)ए</a:t>
                      </a:r>
                      <a:r>
                        <a:rPr lang="en" sz="1500"/>
                        <a:t>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आत्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आभ्याम्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+(- अ)एभ्य: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स्य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+(- अ)आ</a:t>
                      </a:r>
                      <a:r>
                        <a:rPr lang="en" sz="1500"/>
                        <a:t>ना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म् 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0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ए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यो: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+(- अ)एषु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4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हे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अज</a:t>
                      </a:r>
                      <a:r>
                        <a:rPr lang="en" sz="1500">
                          <a:solidFill>
                            <a:srgbClr val="000000"/>
                          </a:solidFill>
                        </a:rPr>
                        <a:t> !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 औ</a:t>
                      </a:r>
                      <a:endParaRPr sz="1500"/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+ (- अ)आः</a:t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3795300" y="420075"/>
            <a:ext cx="1909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741B47"/>
                </a:solidFill>
              </a:rPr>
              <a:t>७ विभक्तय:</a:t>
            </a:r>
            <a:endParaRPr b="1" sz="2300">
              <a:solidFill>
                <a:srgbClr val="741B47"/>
              </a:solidFill>
            </a:endParaRPr>
          </a:p>
        </p:txBody>
      </p:sp>
      <p:graphicFrame>
        <p:nvGraphicFramePr>
          <p:cNvPr id="133" name="Google Shape;133;p23"/>
          <p:cNvGraphicFramePr/>
          <p:nvPr/>
        </p:nvGraphicFramePr>
        <p:xfrm>
          <a:off x="3795350" y="115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{041FC485-BD5C-4019-8069-70D132B7C5DF}</a:tableStyleId>
              </a:tblPr>
              <a:tblGrid>
                <a:gridCol w="1553300"/>
              </a:tblGrid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प्रथमा 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द्वितीया 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तृतीया 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चतुर्थी 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पञ्चमी 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सप्त 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सम्बोधनम्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3F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1658800" y="1246300"/>
            <a:ext cx="92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अजा  -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2787150" y="1246300"/>
            <a:ext cx="310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अजा  - </a:t>
            </a:r>
            <a:r>
              <a:rPr b="1" lang="en" sz="1900">
                <a:solidFill>
                  <a:srgbClr val="7F6000"/>
                </a:solidFill>
              </a:rPr>
              <a:t>आकारान्त स्त्रीलिङ्गम्</a:t>
            </a:r>
            <a:r>
              <a:rPr b="1" lang="en" sz="1900">
                <a:solidFill>
                  <a:srgbClr val="7F6000"/>
                </a:solidFill>
              </a:rPr>
              <a:t> </a:t>
            </a:r>
            <a:endParaRPr b="1" sz="1900">
              <a:solidFill>
                <a:srgbClr val="7F6000"/>
              </a:solidFill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1658800" y="1793600"/>
            <a:ext cx="92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माता</a:t>
            </a:r>
            <a:r>
              <a:rPr b="1" lang="en" sz="1900">
                <a:solidFill>
                  <a:schemeClr val="dk2"/>
                </a:solidFill>
              </a:rPr>
              <a:t>  -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2872200" y="1793600"/>
            <a:ext cx="302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मातृ</a:t>
            </a:r>
            <a:r>
              <a:rPr b="1" lang="en" sz="1900">
                <a:solidFill>
                  <a:srgbClr val="7F6000"/>
                </a:solidFill>
              </a:rPr>
              <a:t>  - </a:t>
            </a:r>
            <a:r>
              <a:rPr b="1" lang="en" sz="1900">
                <a:solidFill>
                  <a:srgbClr val="7F6000"/>
                </a:solidFill>
              </a:rPr>
              <a:t>ऋकारान्त</a:t>
            </a:r>
            <a:r>
              <a:rPr b="1" lang="en" sz="1900">
                <a:solidFill>
                  <a:srgbClr val="7F6000"/>
                </a:solidFill>
              </a:rPr>
              <a:t> स्त्रीलिङ्गम् </a:t>
            </a:r>
            <a:endParaRPr b="1" sz="1900">
              <a:solidFill>
                <a:srgbClr val="7F6000"/>
              </a:solidFill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1547500" y="3242025"/>
            <a:ext cx="1039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अग्रजः</a:t>
            </a:r>
            <a:r>
              <a:rPr b="1" lang="en" sz="1900">
                <a:solidFill>
                  <a:schemeClr val="dk2"/>
                </a:solidFill>
              </a:rPr>
              <a:t>  -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2787150" y="3242025"/>
            <a:ext cx="310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अग्रज</a:t>
            </a:r>
            <a:r>
              <a:rPr b="1" lang="en" sz="1900">
                <a:solidFill>
                  <a:srgbClr val="7F6000"/>
                </a:solidFill>
              </a:rPr>
              <a:t>  - </a:t>
            </a:r>
            <a:r>
              <a:rPr b="1" lang="en" sz="1900">
                <a:solidFill>
                  <a:srgbClr val="7F6000"/>
                </a:solidFill>
              </a:rPr>
              <a:t>अ</a:t>
            </a:r>
            <a:r>
              <a:rPr b="1" lang="en" sz="1900">
                <a:solidFill>
                  <a:srgbClr val="7F6000"/>
                </a:solidFill>
              </a:rPr>
              <a:t>कारान्त </a:t>
            </a:r>
            <a:r>
              <a:rPr b="1" lang="en" sz="1900">
                <a:solidFill>
                  <a:srgbClr val="7F6000"/>
                </a:solidFill>
              </a:rPr>
              <a:t>पुं</a:t>
            </a:r>
            <a:r>
              <a:rPr b="1" lang="en" sz="1900">
                <a:solidFill>
                  <a:srgbClr val="7F6000"/>
                </a:solidFill>
              </a:rPr>
              <a:t>लिङ्गम् </a:t>
            </a:r>
            <a:endParaRPr b="1" sz="1900">
              <a:solidFill>
                <a:srgbClr val="7F6000"/>
              </a:solidFill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1603150" y="4280325"/>
            <a:ext cx="92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धेनु:</a:t>
            </a:r>
            <a:r>
              <a:rPr b="1" lang="en" sz="1900">
                <a:solidFill>
                  <a:schemeClr val="dk2"/>
                </a:solidFill>
              </a:rPr>
              <a:t>  -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2787150" y="4280325"/>
            <a:ext cx="2724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धेनु</a:t>
            </a:r>
            <a:r>
              <a:rPr b="1" lang="en" sz="1900">
                <a:solidFill>
                  <a:srgbClr val="7F6000"/>
                </a:solidFill>
              </a:rPr>
              <a:t> - </a:t>
            </a:r>
            <a:r>
              <a:rPr b="1" lang="en" sz="1900">
                <a:solidFill>
                  <a:srgbClr val="7F6000"/>
                </a:solidFill>
              </a:rPr>
              <a:t>उ</a:t>
            </a:r>
            <a:r>
              <a:rPr b="1" lang="en" sz="1900">
                <a:solidFill>
                  <a:srgbClr val="7F6000"/>
                </a:solidFill>
              </a:rPr>
              <a:t>कारान्त </a:t>
            </a:r>
            <a:r>
              <a:rPr b="1" lang="en" sz="1900">
                <a:solidFill>
                  <a:srgbClr val="7F6000"/>
                </a:solidFill>
              </a:rPr>
              <a:t>स्त्री</a:t>
            </a:r>
            <a:r>
              <a:rPr b="1" lang="en" sz="1900">
                <a:solidFill>
                  <a:srgbClr val="7F6000"/>
                </a:solidFill>
              </a:rPr>
              <a:t>लिङ्गम् </a:t>
            </a:r>
            <a:endParaRPr b="1" sz="1900">
              <a:solidFill>
                <a:srgbClr val="7F6000"/>
              </a:solidFill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1603150" y="3703725"/>
            <a:ext cx="834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वच:</a:t>
            </a:r>
            <a:r>
              <a:rPr b="1" lang="en" sz="1900">
                <a:solidFill>
                  <a:schemeClr val="dk2"/>
                </a:solidFill>
              </a:rPr>
              <a:t>  -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787150" y="3703725"/>
            <a:ext cx="3343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वचस्</a:t>
            </a:r>
            <a:r>
              <a:rPr b="1" lang="en" sz="1900">
                <a:solidFill>
                  <a:srgbClr val="7F6000"/>
                </a:solidFill>
              </a:rPr>
              <a:t> - </a:t>
            </a:r>
            <a:r>
              <a:rPr b="1" lang="en" sz="1900">
                <a:solidFill>
                  <a:srgbClr val="7F6000"/>
                </a:solidFill>
              </a:rPr>
              <a:t>स</a:t>
            </a:r>
            <a:r>
              <a:rPr b="1" lang="en" sz="1900">
                <a:solidFill>
                  <a:srgbClr val="7F6000"/>
                </a:solidFill>
              </a:rPr>
              <a:t>कारान्त </a:t>
            </a:r>
            <a:r>
              <a:rPr b="1" lang="en" sz="1900">
                <a:solidFill>
                  <a:srgbClr val="7F6000"/>
                </a:solidFill>
              </a:rPr>
              <a:t>न</a:t>
            </a:r>
            <a:r>
              <a:rPr b="1" lang="en" sz="1900">
                <a:solidFill>
                  <a:srgbClr val="7F6000"/>
                </a:solidFill>
              </a:rPr>
              <a:t>पुंसक</a:t>
            </a:r>
            <a:r>
              <a:rPr b="1" lang="en" sz="1900">
                <a:solidFill>
                  <a:srgbClr val="7F6000"/>
                </a:solidFill>
              </a:rPr>
              <a:t>लिङ्गम् </a:t>
            </a:r>
            <a:endParaRPr b="1" sz="1900">
              <a:solidFill>
                <a:srgbClr val="7F6000"/>
              </a:solidFill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1658800" y="2340900"/>
            <a:ext cx="92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कर्ता</a:t>
            </a:r>
            <a:r>
              <a:rPr b="1" lang="en" sz="1900">
                <a:solidFill>
                  <a:schemeClr val="dk2"/>
                </a:solidFill>
              </a:rPr>
              <a:t>  -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2848650" y="2340900"/>
            <a:ext cx="284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F6000"/>
                </a:solidFill>
              </a:rPr>
              <a:t>कर्</a:t>
            </a:r>
            <a:r>
              <a:rPr b="1" lang="en" sz="1900">
                <a:solidFill>
                  <a:srgbClr val="7F6000"/>
                </a:solidFill>
              </a:rPr>
              <a:t>तृ  - ऋकारान्त </a:t>
            </a:r>
            <a:r>
              <a:rPr b="1" lang="en" sz="1900">
                <a:solidFill>
                  <a:srgbClr val="7F6000"/>
                </a:solidFill>
              </a:rPr>
              <a:t>पुंलिङ्गम्</a:t>
            </a:r>
            <a:r>
              <a:rPr b="1" lang="en" sz="1900">
                <a:solidFill>
                  <a:srgbClr val="7F6000"/>
                </a:solidFill>
              </a:rPr>
              <a:t> </a:t>
            </a:r>
            <a:endParaRPr b="1" sz="1900">
              <a:solidFill>
                <a:srgbClr val="7F6000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1547500" y="566600"/>
            <a:ext cx="2945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सुबन्तपदम् -    प्रातिपदिकम्</a:t>
            </a:r>
            <a:endParaRPr b="1" sz="1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2610000" y="0"/>
            <a:ext cx="4164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सुबन्तपदम् वा तिङन्तपदम् वा ?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464825" y="1055850"/>
            <a:ext cx="88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741B47"/>
                </a:solidFill>
              </a:rPr>
              <a:t>सीता </a:t>
            </a:r>
            <a:endParaRPr b="1" sz="2100">
              <a:solidFill>
                <a:srgbClr val="741B47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1267800" y="1846500"/>
            <a:ext cx="13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741B47"/>
                </a:solidFill>
              </a:rPr>
              <a:t>नदीभ्याम् </a:t>
            </a:r>
            <a:r>
              <a:rPr b="1" lang="en" sz="2100">
                <a:solidFill>
                  <a:srgbClr val="741B47"/>
                </a:solidFill>
              </a:rPr>
              <a:t> </a:t>
            </a:r>
            <a:endParaRPr b="1" sz="2100">
              <a:solidFill>
                <a:srgbClr val="741B47"/>
              </a:solidFill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2279275" y="2461300"/>
            <a:ext cx="74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741B47"/>
                </a:solidFill>
              </a:rPr>
              <a:t>सा</a:t>
            </a:r>
            <a:endParaRPr b="1" sz="2100">
              <a:solidFill>
                <a:srgbClr val="741B47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2610000" y="3221625"/>
            <a:ext cx="101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741B47"/>
                </a:solidFill>
              </a:rPr>
              <a:t>समये</a:t>
            </a:r>
            <a:endParaRPr b="1" sz="2100">
              <a:solidFill>
                <a:srgbClr val="741B47"/>
              </a:solidFill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3154150" y="3809175"/>
            <a:ext cx="128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741B47"/>
                </a:solidFill>
              </a:rPr>
              <a:t>फलाभि:</a:t>
            </a:r>
            <a:endParaRPr b="1" sz="2100">
              <a:solidFill>
                <a:srgbClr val="741B47"/>
              </a:solidFill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2525150" y="1055850"/>
            <a:ext cx="101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A64D79"/>
                </a:solidFill>
              </a:rPr>
              <a:t>गच्छति</a:t>
            </a:r>
            <a:r>
              <a:rPr b="1" lang="en" sz="2100">
                <a:solidFill>
                  <a:srgbClr val="A64D79"/>
                </a:solidFill>
              </a:rPr>
              <a:t>  </a:t>
            </a:r>
            <a:endParaRPr b="1" sz="2100">
              <a:solidFill>
                <a:srgbClr val="A64D79"/>
              </a:solidFill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3543650" y="1846500"/>
            <a:ext cx="101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A64D79"/>
                </a:solidFill>
              </a:rPr>
              <a:t>कुर्वन्ति </a:t>
            </a:r>
            <a:r>
              <a:rPr b="1" lang="en" sz="2100">
                <a:solidFill>
                  <a:srgbClr val="A64D79"/>
                </a:solidFill>
              </a:rPr>
              <a:t>  </a:t>
            </a:r>
            <a:endParaRPr b="1" sz="2100">
              <a:solidFill>
                <a:srgbClr val="A64D79"/>
              </a:solidFill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4106525" y="2461300"/>
            <a:ext cx="128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A64D79"/>
                </a:solidFill>
              </a:rPr>
              <a:t>कु</a:t>
            </a:r>
            <a:r>
              <a:rPr b="1" lang="en" sz="2100">
                <a:solidFill>
                  <a:srgbClr val="A64D79"/>
                </a:solidFill>
              </a:rPr>
              <a:t>रुथाम्</a:t>
            </a:r>
            <a:r>
              <a:rPr b="1" lang="en" sz="2100">
                <a:solidFill>
                  <a:srgbClr val="A64D79"/>
                </a:solidFill>
              </a:rPr>
              <a:t>  </a:t>
            </a:r>
            <a:endParaRPr b="1" sz="2100">
              <a:solidFill>
                <a:srgbClr val="A64D79"/>
              </a:solidFill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4741075" y="3221625"/>
            <a:ext cx="117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A64D79"/>
                </a:solidFill>
              </a:rPr>
              <a:t>जानामि</a:t>
            </a:r>
            <a:r>
              <a:rPr b="1" lang="en" sz="2100">
                <a:solidFill>
                  <a:srgbClr val="A64D79"/>
                </a:solidFill>
              </a:rPr>
              <a:t> </a:t>
            </a:r>
            <a:endParaRPr b="1" sz="2100">
              <a:solidFill>
                <a:srgbClr val="A64D79"/>
              </a:solidFill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5596850" y="3809175"/>
            <a:ext cx="101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A64D79"/>
                </a:solidFill>
              </a:rPr>
              <a:t>ददातु</a:t>
            </a:r>
            <a:r>
              <a:rPr b="1" lang="en" sz="2100">
                <a:solidFill>
                  <a:srgbClr val="A64D79"/>
                </a:solidFill>
              </a:rPr>
              <a:t> </a:t>
            </a:r>
            <a:endParaRPr b="1" sz="2100">
              <a:solidFill>
                <a:srgbClr val="A64D7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/>
        </p:nvSpPr>
        <p:spPr>
          <a:xfrm>
            <a:off x="640875" y="239975"/>
            <a:ext cx="4434300" cy="538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पदम् 	= 	</a:t>
            </a:r>
            <a:r>
              <a:rPr b="1" lang="en" sz="2300">
                <a:solidFill>
                  <a:srgbClr val="741B47"/>
                </a:solidFill>
              </a:rPr>
              <a:t>प्रकृति:</a:t>
            </a:r>
            <a:r>
              <a:rPr b="1" lang="en" sz="2300">
                <a:solidFill>
                  <a:schemeClr val="dk2"/>
                </a:solidFill>
              </a:rPr>
              <a:t> 		+ 	</a:t>
            </a:r>
            <a:r>
              <a:rPr b="1" lang="en" sz="2300">
                <a:solidFill>
                  <a:srgbClr val="A64D79"/>
                </a:solidFill>
              </a:rPr>
              <a:t>प्रत्यय:</a:t>
            </a:r>
            <a:endParaRPr b="1" sz="2300">
              <a:solidFill>
                <a:srgbClr val="A64D79"/>
              </a:solidFill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1865625" y="953800"/>
            <a:ext cx="1377300" cy="4464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प्रातिपदिकम्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2095575" y="1575225"/>
            <a:ext cx="917400" cy="4617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धातु: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942900" y="946150"/>
            <a:ext cx="629100" cy="4617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सुप्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3942900" y="1575225"/>
            <a:ext cx="804900" cy="4617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तिङ्</a:t>
            </a:r>
            <a:r>
              <a:rPr b="1" lang="en" sz="1800">
                <a:solidFill>
                  <a:schemeClr val="dk2"/>
                </a:solidFill>
              </a:rPr>
              <a:t>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527525" y="2433300"/>
            <a:ext cx="1860900" cy="7695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D85C6"/>
                </a:solidFill>
              </a:rPr>
              <a:t>पदम् </a:t>
            </a:r>
            <a:endParaRPr b="1" sz="1900">
              <a:solidFill>
                <a:srgbClr val="3D85C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D85C6"/>
                </a:solidFill>
              </a:rPr>
              <a:t>(सुप्तिङन्तम्)</a:t>
            </a:r>
            <a:endParaRPr b="1" sz="1900">
              <a:solidFill>
                <a:srgbClr val="3D85C6"/>
              </a:solidFill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124450" y="3538425"/>
            <a:ext cx="2485200" cy="7389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सुबन्दपदम् (नामपदम्)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विभक्तय: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5306650" y="3538425"/>
            <a:ext cx="2942400" cy="7389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 </a:t>
            </a:r>
            <a:r>
              <a:rPr b="1" lang="en" sz="1900">
                <a:solidFill>
                  <a:schemeClr val="dk2"/>
                </a:solidFill>
              </a:rPr>
              <a:t>तिङ</a:t>
            </a:r>
            <a:r>
              <a:rPr b="1" lang="en" sz="1900">
                <a:solidFill>
                  <a:schemeClr val="dk2"/>
                </a:solidFill>
              </a:rPr>
              <a:t>न्</a:t>
            </a:r>
            <a:r>
              <a:rPr b="1" lang="en" sz="1900">
                <a:solidFill>
                  <a:schemeClr val="dk2"/>
                </a:solidFill>
              </a:rPr>
              <a:t>त</a:t>
            </a:r>
            <a:r>
              <a:rPr b="1" lang="en" sz="1900">
                <a:solidFill>
                  <a:schemeClr val="dk2"/>
                </a:solidFill>
              </a:rPr>
              <a:t>पदम् (</a:t>
            </a:r>
            <a:r>
              <a:rPr b="1" lang="en" sz="1900">
                <a:solidFill>
                  <a:schemeClr val="dk2"/>
                </a:solidFill>
              </a:rPr>
              <a:t>क्रिया</a:t>
            </a:r>
            <a:r>
              <a:rPr b="1" lang="en" sz="1900">
                <a:solidFill>
                  <a:schemeClr val="dk2"/>
                </a:solidFill>
              </a:rPr>
              <a:t>पदम्)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लकारा: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124450" y="4404600"/>
            <a:ext cx="248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लता,  एष:, हस्तेन...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5388425" y="4404600"/>
            <a:ext cx="2942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पिबति, धावति, लिखति... </a:t>
            </a:r>
            <a:r>
              <a:rPr b="1" lang="en" sz="1900">
                <a:solidFill>
                  <a:schemeClr val="dk2"/>
                </a:solidFill>
              </a:rPr>
              <a:t> 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5388425" y="953800"/>
            <a:ext cx="1377300" cy="4464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सुबन्दपद</a:t>
            </a:r>
            <a:r>
              <a:rPr b="1" lang="en" sz="1700">
                <a:solidFill>
                  <a:schemeClr val="dk2"/>
                </a:solidFill>
              </a:rPr>
              <a:t>म्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5388425" y="1575225"/>
            <a:ext cx="1377300" cy="4617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तिङ</a:t>
            </a:r>
            <a:r>
              <a:rPr b="1" lang="en" sz="1800">
                <a:solidFill>
                  <a:schemeClr val="dk2"/>
                </a:solidFill>
              </a:rPr>
              <a:t>न्तपदम्</a:t>
            </a:r>
            <a:r>
              <a:rPr b="1" lang="en" sz="1800">
                <a:solidFill>
                  <a:schemeClr val="dk2"/>
                </a:solidFill>
              </a:rPr>
              <a:t> 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82" name="Google Shape;182;p26"/>
          <p:cNvCxnSpPr>
            <a:endCxn id="175" idx="1"/>
          </p:cNvCxnSpPr>
          <p:nvPr/>
        </p:nvCxnSpPr>
        <p:spPr>
          <a:xfrm flipH="1" rot="10800000">
            <a:off x="2378825" y="2818050"/>
            <a:ext cx="1148700" cy="708600"/>
          </a:xfrm>
          <a:prstGeom prst="bentConnector3">
            <a:avLst>
              <a:gd fmla="val 127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6"/>
          <p:cNvCxnSpPr>
            <a:endCxn id="177" idx="0"/>
          </p:cNvCxnSpPr>
          <p:nvPr/>
        </p:nvCxnSpPr>
        <p:spPr>
          <a:xfrm>
            <a:off x="5426650" y="2823225"/>
            <a:ext cx="1351200" cy="7152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6"/>
          <p:cNvCxnSpPr>
            <a:endCxn id="180" idx="1"/>
          </p:cNvCxnSpPr>
          <p:nvPr/>
        </p:nvCxnSpPr>
        <p:spPr>
          <a:xfrm flipH="1" rot="10800000">
            <a:off x="4591625" y="1177000"/>
            <a:ext cx="796800" cy="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6"/>
          <p:cNvCxnSpPr>
            <a:endCxn id="181" idx="1"/>
          </p:cNvCxnSpPr>
          <p:nvPr/>
        </p:nvCxnSpPr>
        <p:spPr>
          <a:xfrm flipH="1" rot="10800000">
            <a:off x="4782125" y="1806075"/>
            <a:ext cx="6063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6"/>
          <p:cNvSpPr/>
          <p:nvPr/>
        </p:nvSpPr>
        <p:spPr>
          <a:xfrm>
            <a:off x="3388310" y="995650"/>
            <a:ext cx="409200" cy="3678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3273347" y="1614500"/>
            <a:ext cx="409200" cy="3678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/>
        </p:nvSpPr>
        <p:spPr>
          <a:xfrm>
            <a:off x="1633950" y="947625"/>
            <a:ext cx="5876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 u="sng">
                <a:solidFill>
                  <a:schemeClr val="hlink"/>
                </a:solidFill>
                <a:hlinkClick r:id="rId3"/>
              </a:rPr>
              <a:t>Ashtadhyayi.com</a:t>
            </a:r>
            <a:endParaRPr b="1" sz="5300">
              <a:solidFill>
                <a:schemeClr val="dk2"/>
              </a:solidFill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3500" y="2330950"/>
            <a:ext cx="9080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 u="sng">
                <a:solidFill>
                  <a:schemeClr val="hlink"/>
                </a:solidFill>
                <a:hlinkClick r:id="rId4"/>
              </a:rPr>
              <a:t>https://sanskrit.uohyd.ac.in/scl/</a:t>
            </a:r>
            <a:endParaRPr b="1" sz="4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/>
        </p:nvSpPr>
        <p:spPr>
          <a:xfrm>
            <a:off x="2742050" y="1883225"/>
            <a:ext cx="5888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00"/>
                </a:solidFill>
              </a:rPr>
              <a:t>శత్రుబోధ</a:t>
            </a:r>
            <a:r>
              <a:rPr b="1" lang="en" sz="1800">
                <a:solidFill>
                  <a:srgbClr val="7F6000"/>
                </a:solidFill>
              </a:rPr>
              <a:t> </a:t>
            </a:r>
            <a:endParaRPr b="1" sz="1800">
              <a:solidFill>
                <a:srgbClr val="7F6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</a:rPr>
              <a:t>స్త్రీలను, పర్యావరణాన్ని, పరిగణలోకి తీసుకోకుండా జరిగే అభివృద్ధి, అభివృద్ధే కాదు — అది కాలుష్యం</a:t>
            </a:r>
            <a:endParaRPr b="1" sz="1800">
              <a:solidFill>
                <a:srgbClr val="674EA7"/>
              </a:solidFill>
            </a:endParaRPr>
          </a:p>
        </p:txBody>
      </p:sp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49332" cy="380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/>
        </p:nvSpPr>
        <p:spPr>
          <a:xfrm>
            <a:off x="1790225" y="1783575"/>
            <a:ext cx="603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</a:rPr>
              <a:t>ఈ వీడియొ మాతా సరస్వతి, రాణి లక్ష్మీబాయి, సావిత్రి బాయి పులే, మరియ తను స్వతంత్రంగా జీవించాలి అని కష్టపడే నేటి ప్రతి మహిళకు అంకితం</a:t>
            </a:r>
            <a:endParaRPr b="1" sz="1800">
              <a:solidFill>
                <a:srgbClr val="674EA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/>
          <p:nvPr/>
        </p:nvSpPr>
        <p:spPr>
          <a:xfrm>
            <a:off x="0" y="0"/>
            <a:ext cx="9143984" cy="509530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హిందువులంతా ఐకమత్యంగా ఉండాలని,</a:t>
            </a:r>
            <a:b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ప్రతి గుడిలో </a:t>
            </a:r>
            <a:b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   సంస్కృతం నేర్పించాలి, </a:t>
            </a:r>
            <a:b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   శత్రుబోధ చేయాలని </a:t>
            </a:r>
            <a:b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rgbClr val="A64D79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కోరుకుంటూ...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/>
          <p:nvPr/>
        </p:nvSpPr>
        <p:spPr>
          <a:xfrm>
            <a:off x="894850" y="1509011"/>
            <a:ext cx="7879646" cy="21254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BF9000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D4EB"/>
                    </a:gs>
                    <a:gs pos="100000">
                      <a:srgbClr val="9080B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धन्यवाद:</a:t>
            </a:r>
          </a:p>
        </p:txBody>
      </p:sp>
      <p:sp>
        <p:nvSpPr>
          <p:cNvPr id="215" name="Google Shape;215;p31"/>
          <p:cNvSpPr txBox="1"/>
          <p:nvPr/>
        </p:nvSpPr>
        <p:spPr>
          <a:xfrm>
            <a:off x="35250" y="4463475"/>
            <a:ext cx="907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C27BA0"/>
                </a:solidFill>
                <a:latin typeface="Calibri"/>
                <a:ea typeface="Calibri"/>
                <a:cs typeface="Calibri"/>
                <a:sym typeface="Calibri"/>
              </a:rPr>
              <a:t>Content Source: </a:t>
            </a:r>
            <a:r>
              <a:rPr b="1" lang="en" sz="1700">
                <a:solidFill>
                  <a:srgbClr val="C27BA0"/>
                </a:solidFill>
                <a:latin typeface="Calibri"/>
                <a:ea typeface="Calibri"/>
                <a:cs typeface="Calibri"/>
                <a:sym typeface="Calibri"/>
              </a:rPr>
              <a:t>SamskritaBharati S2S </a:t>
            </a:r>
            <a:endParaRPr b="1" sz="1100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519050" y="263050"/>
            <a:ext cx="785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చిట్కా: బొమ్మల ద్వారా, అభినయం ద్వారా, వ్యక్తీకరణ ద్వారా,  ప్రశ్నించడం ద్వారా  సంస్కృత భాషను నేర్చుకోండి  </a:t>
            </a:r>
            <a:endParaRPr sz="1800"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