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7d3db5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7d3db5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57a2b13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57a2b13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7a2b13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7a2b13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46ce32b6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46ce32b6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4875730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4875730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d4875730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d4875730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4875730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4875730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4875730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d4875730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d4875730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d4875730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d4875730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d4875730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d4875730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d4875730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d4875730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d4875730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d4875730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d4875730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4875730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d4875730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d4875730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d4875730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d4875730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d4875730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47d3db5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47d3db5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355650" y="605575"/>
            <a:ext cx="2432700" cy="65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48108"/>
              </a:gs>
              <a:gs pos="100000">
                <a:srgbClr val="703D08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73763"/>
                </a:solidFill>
              </a:rPr>
              <a:t>पाठः - ६</a:t>
            </a:r>
            <a:r>
              <a:rPr lang="en">
                <a:solidFill>
                  <a:srgbClr val="073763"/>
                </a:solidFill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88700" y="2359400"/>
            <a:ext cx="7395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73763"/>
                </a:solidFill>
              </a:rPr>
              <a:t>गुरुर्बह्मा गुरुर्विष्णुः गरुर्देवो महेश्वरः |</a:t>
            </a:r>
            <a:endParaRPr b="1" sz="32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73763"/>
                </a:solidFill>
              </a:rPr>
              <a:t>गुरुस्साक्षात् परब्रह्मा तस्मै श्रीगुरवे नमः ||</a:t>
            </a:r>
            <a:endParaRPr b="1" sz="32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817627" y="1335221"/>
            <a:ext cx="7508749" cy="20063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F48108"/>
                    </a:gs>
                    <a:gs pos="100000">
                      <a:srgbClr val="703D08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Times New Roman"/>
              </a:rPr>
              <a:t>स्वरगीतम्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/>
          </a:p>
        </p:txBody>
      </p:sp>
      <p:sp>
        <p:nvSpPr>
          <p:cNvPr id="68" name="Google Shape;68;p15"/>
          <p:cNvSpPr/>
          <p:nvPr/>
        </p:nvSpPr>
        <p:spPr>
          <a:xfrm>
            <a:off x="1319296" y="614048"/>
            <a:ext cx="6347306" cy="40673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रामः लिखति - अ, आ, इ, ई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कृष्णः लिखति - उ, ऊ, ऋ, ॠ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बाला लिखति - ए, ऐ, ओ, औ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अं, अः लिखति गोपीनाथः ।।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* * *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अ आ इ ई कथयत बालाः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उ ऊ ऋ ॠ पुनरिह वदत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ए ऐ ओ औ अं अः कथयत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स्वरान् हि सर्वान् सदैव स्मरत ।।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1679463" y="1717100"/>
            <a:ext cx="5842774" cy="2004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F48108"/>
                    </a:gs>
                    <a:gs pos="100000">
                      <a:srgbClr val="703D08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Times New Roman"/>
              </a:rPr>
              <a:t>पशवः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 image of fierce lion with a white background"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25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सिंहः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117625" y="22991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073763"/>
                </a:solidFill>
              </a:rPr>
              <a:t>సింహం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of giant elephant with white background"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45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गजः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6359125" y="311050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073763"/>
                </a:solidFill>
              </a:rPr>
              <a:t>ఏనుగు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of running black horse with beautiful horse hair with white background"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अश्वः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6359125" y="3110500"/>
            <a:ext cx="25059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100">
                <a:solidFill>
                  <a:srgbClr val="073763"/>
                </a:solidFill>
              </a:rPr>
              <a:t>గుర్రం</a:t>
            </a:r>
            <a:r>
              <a:rPr b="1" lang="en" sz="6100">
                <a:solidFill>
                  <a:srgbClr val="741B47"/>
                </a:solidFill>
              </a:rPr>
              <a:t> </a:t>
            </a:r>
            <a:r>
              <a:rPr b="1" lang="en" sz="6100">
                <a:solidFill>
                  <a:srgbClr val="073763"/>
                </a:solidFill>
              </a:rPr>
              <a:t>   </a:t>
            </a:r>
            <a:endParaRPr b="1" sz="61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of roaring tiger witha white background"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25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व्याघ्रः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6359125" y="3110500"/>
            <a:ext cx="2505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073763"/>
                </a:solidFill>
              </a:rPr>
              <a:t>పులి</a:t>
            </a:r>
            <a:r>
              <a:rPr b="1" lang="en" sz="6100">
                <a:solidFill>
                  <a:srgbClr val="741B47"/>
                </a:solidFill>
              </a:rPr>
              <a:t> </a:t>
            </a:r>
            <a:r>
              <a:rPr b="1" lang="en" sz="6100">
                <a:solidFill>
                  <a:srgbClr val="073763"/>
                </a:solidFill>
              </a:rPr>
              <a:t>   </a:t>
            </a:r>
            <a:endParaRPr b="1" sz="61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6359125" y="3110500"/>
            <a:ext cx="2505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073763"/>
                </a:solidFill>
              </a:rPr>
              <a:t>కోతి</a:t>
            </a:r>
            <a:r>
              <a:rPr b="1" lang="en" sz="6100">
                <a:solidFill>
                  <a:srgbClr val="741B47"/>
                </a:solidFill>
              </a:rPr>
              <a:t> </a:t>
            </a:r>
            <a:r>
              <a:rPr b="1" lang="en" sz="6100">
                <a:solidFill>
                  <a:srgbClr val="073763"/>
                </a:solidFill>
              </a:rPr>
              <a:t>   </a:t>
            </a:r>
            <a:endParaRPr b="1" sz="6100">
              <a:solidFill>
                <a:srgbClr val="073763"/>
              </a:solidFill>
            </a:endParaRPr>
          </a:p>
        </p:txBody>
      </p:sp>
      <p:pic>
        <p:nvPicPr>
          <p:cNvPr descr="image of fruit eating monkey with white backround"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वानरः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6359125" y="3110500"/>
            <a:ext cx="2505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073763"/>
                </a:solidFill>
              </a:rPr>
              <a:t>మేక</a:t>
            </a:r>
            <a:r>
              <a:rPr b="1" lang="en" sz="6100">
                <a:solidFill>
                  <a:srgbClr val="741B47"/>
                </a:solidFill>
              </a:rPr>
              <a:t> </a:t>
            </a:r>
            <a:r>
              <a:rPr b="1" lang="en" sz="6100">
                <a:solidFill>
                  <a:srgbClr val="073763"/>
                </a:solidFill>
              </a:rPr>
              <a:t>   </a:t>
            </a:r>
            <a:endParaRPr b="1" sz="6100">
              <a:solidFill>
                <a:srgbClr val="073763"/>
              </a:solidFill>
            </a:endParaRPr>
          </a:p>
        </p:txBody>
      </p:sp>
      <p:pic>
        <p:nvPicPr>
          <p:cNvPr descr="image of a goat with a gentle smile with a white backround"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अजः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6359125" y="3110500"/>
            <a:ext cx="250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rgbClr val="073763"/>
                </a:solidFill>
              </a:rPr>
              <a:t>ఎద్దు</a:t>
            </a:r>
            <a:r>
              <a:rPr b="1" lang="en" sz="3100">
                <a:solidFill>
                  <a:srgbClr val="741B47"/>
                </a:solidFill>
              </a:rPr>
              <a:t> </a:t>
            </a:r>
            <a:r>
              <a:rPr b="1" lang="en" sz="3100">
                <a:solidFill>
                  <a:srgbClr val="073763"/>
                </a:solidFill>
              </a:rPr>
              <a:t>   </a:t>
            </a:r>
            <a:endParaRPr b="1" sz="3100">
              <a:solidFill>
                <a:srgbClr val="073763"/>
              </a:solidFill>
            </a:endParaRPr>
          </a:p>
        </p:txBody>
      </p:sp>
      <p:pic>
        <p:nvPicPr>
          <p:cNvPr descr="Can you remove that wooden floor"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वृषभः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n you give thick colors to rabbit instead of light colors and still make it look cute, like eating carrtos or some leaves or something"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090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>
          <a:xfrm>
            <a:off x="6359125" y="3110500"/>
            <a:ext cx="250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73763"/>
                </a:solidFill>
              </a:rPr>
              <a:t>కుందేలు</a:t>
            </a:r>
            <a:r>
              <a:rPr b="1" lang="en" sz="2400">
                <a:solidFill>
                  <a:srgbClr val="741B47"/>
                </a:solidFill>
              </a:rPr>
              <a:t> </a:t>
            </a:r>
            <a:r>
              <a:rPr b="1" lang="en" sz="2400">
                <a:solidFill>
                  <a:srgbClr val="073763"/>
                </a:solidFill>
              </a:rPr>
              <a:t>   </a:t>
            </a:r>
            <a:endParaRPr b="1" sz="2400">
              <a:solidFill>
                <a:srgbClr val="073763"/>
              </a:solidFill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741B47"/>
                </a:solidFill>
              </a:rPr>
              <a:t>शशः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6359125" y="3110500"/>
            <a:ext cx="25059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073763"/>
                </a:solidFill>
              </a:rPr>
              <a:t>చేప</a:t>
            </a:r>
            <a:r>
              <a:rPr b="1" lang="en" sz="5900">
                <a:solidFill>
                  <a:srgbClr val="741B47"/>
                </a:solidFill>
              </a:rPr>
              <a:t> </a:t>
            </a:r>
            <a:r>
              <a:rPr b="1" lang="en" sz="5900">
                <a:solidFill>
                  <a:srgbClr val="073763"/>
                </a:solidFill>
              </a:rPr>
              <a:t>   </a:t>
            </a:r>
            <a:endParaRPr b="1" sz="5900">
              <a:solidFill>
                <a:srgbClr val="073763"/>
              </a:solidFill>
            </a:endParaRPr>
          </a:p>
        </p:txBody>
      </p:sp>
      <p:pic>
        <p:nvPicPr>
          <p:cNvPr descr="that's not a salmon fish, isn't salmon supposed to be orangis"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405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741B47"/>
                </a:solidFill>
              </a:rPr>
              <a:t>मीनः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/>
        </p:nvSpPr>
        <p:spPr>
          <a:xfrm>
            <a:off x="6359125" y="3110500"/>
            <a:ext cx="2505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300">
                <a:solidFill>
                  <a:srgbClr val="073763"/>
                </a:solidFill>
              </a:rPr>
              <a:t>మొసలి</a:t>
            </a:r>
            <a:endParaRPr/>
          </a:p>
        </p:txBody>
      </p:sp>
      <p:pic>
        <p:nvPicPr>
          <p:cNvPr descr="image of मकरः with a open mouth as if it's ready to attack with a white background"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741B47"/>
                </a:solidFill>
              </a:rPr>
              <a:t>मकरः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6359125" y="3110500"/>
            <a:ext cx="25059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073763"/>
                </a:solidFill>
              </a:rPr>
              <a:t>కప్ప</a:t>
            </a:r>
            <a:r>
              <a:rPr b="1" lang="en" sz="3100">
                <a:solidFill>
                  <a:srgbClr val="741B47"/>
                </a:solidFill>
              </a:rPr>
              <a:t> </a:t>
            </a:r>
            <a:r>
              <a:rPr b="1" lang="en" sz="3100">
                <a:solidFill>
                  <a:srgbClr val="073763"/>
                </a:solidFill>
              </a:rPr>
              <a:t>   </a:t>
            </a:r>
            <a:endParaRPr b="1" sz="3100">
              <a:solidFill>
                <a:srgbClr val="073763"/>
              </a:solidFill>
            </a:endParaRPr>
          </a:p>
        </p:txBody>
      </p:sp>
      <p:pic>
        <p:nvPicPr>
          <p:cNvPr descr="image of मण्डूकः a poisinous and colorful one with a white background"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/>
          <p:nvPr/>
        </p:nvSpPr>
        <p:spPr>
          <a:xfrm>
            <a:off x="367125" y="660450"/>
            <a:ext cx="25437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741B47"/>
                </a:solidFill>
              </a:rPr>
              <a:t>मण्डूकः</a:t>
            </a:r>
            <a:r>
              <a:rPr lang="en" sz="6700">
                <a:solidFill>
                  <a:srgbClr val="741B47"/>
                </a:solidFill>
              </a:rPr>
              <a:t> </a:t>
            </a:r>
            <a:r>
              <a:rPr lang="en" sz="6700">
                <a:solidFill>
                  <a:srgbClr val="073763"/>
                </a:solidFill>
              </a:rPr>
              <a:t>   </a:t>
            </a:r>
            <a:endParaRPr sz="6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 txBox="1"/>
          <p:nvPr/>
        </p:nvSpPr>
        <p:spPr>
          <a:xfrm>
            <a:off x="6359125" y="3110500"/>
            <a:ext cx="2505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073763"/>
                </a:solidFill>
              </a:rPr>
              <a:t>తాబేలు</a:t>
            </a:r>
            <a:r>
              <a:rPr b="1" lang="en" sz="200">
                <a:solidFill>
                  <a:srgbClr val="741B47"/>
                </a:solidFill>
              </a:rPr>
              <a:t> </a:t>
            </a:r>
            <a:r>
              <a:rPr b="1" lang="en" sz="200">
                <a:solidFill>
                  <a:srgbClr val="073763"/>
                </a:solidFill>
              </a:rPr>
              <a:t>   </a:t>
            </a:r>
            <a:endParaRPr b="1" sz="200">
              <a:solidFill>
                <a:srgbClr val="073763"/>
              </a:solidFill>
            </a:endParaRPr>
          </a:p>
        </p:txBody>
      </p:sp>
      <p:pic>
        <p:nvPicPr>
          <p:cNvPr descr="image of कूर्मः with a white background"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220200"/>
            <a:ext cx="4679500" cy="4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/>
          <p:nvPr/>
        </p:nvSpPr>
        <p:spPr>
          <a:xfrm>
            <a:off x="367125" y="660450"/>
            <a:ext cx="254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741B47"/>
                </a:solidFill>
              </a:rPr>
              <a:t>कूर्मः</a:t>
            </a:r>
            <a:r>
              <a:rPr lang="en" sz="7700">
                <a:solidFill>
                  <a:srgbClr val="741B47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 </a:t>
            </a:r>
            <a:endParaRPr sz="77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00">
              <a:solidFill>
                <a:srgbClr val="A64D79"/>
              </a:solidFill>
            </a:endParaRPr>
          </a:p>
        </p:txBody>
      </p:sp>
      <p:pic>
        <p:nvPicPr>
          <p:cNvPr id="176" name="Google Shape;176;p29" title="WhatsApp Image 2026-05-25 at 2.19.59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75" y="232000"/>
            <a:ext cx="5232514" cy="4679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7" name="Google Shape;177;p29"/>
          <p:cNvSpPr/>
          <p:nvPr/>
        </p:nvSpPr>
        <p:spPr>
          <a:xfrm>
            <a:off x="6692850" y="235950"/>
            <a:ext cx="1179600" cy="466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ध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न्य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वा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दः</a:t>
            </a:r>
            <a:endParaRPr b="1" sz="75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