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8E13EE-9DCE-4CFE-9E23-5C96DC6AEDCB}">
  <a:tblStyle styleId="{A28E13EE-9DCE-4CFE-9E23-5C96DC6AED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7d3db5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7d3db5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6ce32b6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6ce32b6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6ce32b6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6ce32b6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6ce32b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6ce32b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6ce32b6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6ce32b6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6ce32b6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6ce32b6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6ce32b6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46ce32b6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46ce32b6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46ce32b6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46ce32b6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46ce32b6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6ce32b6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46ce32b6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6ce32b6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6ce32b6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ce32b6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ce32b6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46ce32b6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46ce32b6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6ce32b6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46ce32b6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6ce32b6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46ce32b6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7d3db56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47d3db56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47d3db5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47d3db5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355650" y="605575"/>
            <a:ext cx="2432700" cy="652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73763"/>
                </a:solidFill>
              </a:rPr>
              <a:t>पाठः - ४</a:t>
            </a:r>
            <a:r>
              <a:rPr lang="en">
                <a:solidFill>
                  <a:srgbClr val="073763"/>
                </a:solidFill>
              </a:rPr>
              <a:t> 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88700" y="2359400"/>
            <a:ext cx="7395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गुरुर्बह्मा गुरुर्विष्णुः गरुर्देवो महेश्वरः |</a:t>
            </a:r>
            <a:endParaRPr b="1" sz="32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73763"/>
                </a:solidFill>
              </a:rPr>
              <a:t>गुरुस्साक्षात् परब्रह्मा तस्मै श्रीगुरवे नमः ||</a:t>
            </a:r>
            <a:endParaRPr b="1" sz="32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307000" y="14157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क 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6525" y="1219200"/>
            <a:ext cx="37909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714450" y="3529900"/>
            <a:ext cx="7715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कमलम्</a:t>
            </a:r>
            <a:r>
              <a:rPr lang="en" sz="7700">
                <a:solidFill>
                  <a:srgbClr val="073763"/>
                </a:solidFill>
              </a:rPr>
              <a:t> - </a:t>
            </a:r>
            <a:r>
              <a:rPr lang="en" sz="7700">
                <a:solidFill>
                  <a:srgbClr val="073763"/>
                </a:solidFill>
              </a:rPr>
              <a:t>కమలం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id="74" name="Google Shape;74;p16" title="Gemini_Generated_Image_6chfhb6chfhb6ch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663" y="220200"/>
            <a:ext cx="7644675" cy="323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2307000" y="14157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ख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963" y="1014413"/>
            <a:ext cx="441007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361775" y="3523375"/>
            <a:ext cx="8425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खड्गः</a:t>
            </a:r>
            <a:r>
              <a:rPr lang="en" sz="7700">
                <a:solidFill>
                  <a:srgbClr val="073763"/>
                </a:solidFill>
              </a:rPr>
              <a:t> - ఖడ్గం  </a:t>
            </a:r>
            <a:r>
              <a:rPr lang="en" sz="7100">
                <a:solidFill>
                  <a:srgbClr val="073763"/>
                </a:solidFill>
              </a:rPr>
              <a:t>  </a:t>
            </a:r>
            <a:r>
              <a:rPr lang="en" sz="7100">
                <a:solidFill>
                  <a:srgbClr val="073763"/>
                </a:solidFill>
              </a:rPr>
              <a:t> </a:t>
            </a:r>
            <a:endParaRPr sz="7100">
              <a:solidFill>
                <a:srgbClr val="073763"/>
              </a:solidFill>
            </a:endParaRPr>
          </a:p>
        </p:txBody>
      </p:sp>
      <p:pic>
        <p:nvPicPr>
          <p:cNvPr id="92" name="Google Shape;92;p19" title="ChatGPT Image May 31, 2026, 10_56_2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913" y="259575"/>
            <a:ext cx="7426174" cy="315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1756475" y="825800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ग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525" y="1343025"/>
            <a:ext cx="302895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/>
        </p:nvSpPr>
        <p:spPr>
          <a:xfrm>
            <a:off x="298875" y="3641375"/>
            <a:ext cx="8604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700">
                <a:solidFill>
                  <a:srgbClr val="741B47"/>
                </a:solidFill>
              </a:rPr>
              <a:t>गदा</a:t>
            </a:r>
            <a:r>
              <a:rPr lang="en" sz="7700">
                <a:solidFill>
                  <a:srgbClr val="073763"/>
                </a:solidFill>
              </a:rPr>
              <a:t> - </a:t>
            </a:r>
            <a:r>
              <a:rPr lang="en" sz="7700">
                <a:solidFill>
                  <a:srgbClr val="073763"/>
                </a:solidFill>
              </a:rPr>
              <a:t>గదా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id="110" name="Google Shape;110;p22" title="Copilot_20260531_2319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365" y="220200"/>
            <a:ext cx="5263277" cy="350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2898075" y="-404025"/>
            <a:ext cx="846900" cy="60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100">
                <a:solidFill>
                  <a:srgbClr val="073763"/>
                </a:solidFill>
              </a:rPr>
              <a:t>घ</a:t>
            </a:r>
            <a:endParaRPr b="1" sz="38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325" y="1252538"/>
            <a:ext cx="241935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 txBox="1"/>
          <p:nvPr/>
        </p:nvSpPr>
        <p:spPr>
          <a:xfrm>
            <a:off x="318500" y="3617800"/>
            <a:ext cx="8564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घटः</a:t>
            </a:r>
            <a:r>
              <a:rPr lang="en" sz="7100">
                <a:solidFill>
                  <a:srgbClr val="073763"/>
                </a:solidFill>
              </a:rPr>
              <a:t> - </a:t>
            </a:r>
            <a:r>
              <a:rPr lang="en" sz="7100">
                <a:solidFill>
                  <a:srgbClr val="073763"/>
                </a:solidFill>
              </a:rPr>
              <a:t>కుండ</a:t>
            </a:r>
            <a:r>
              <a:rPr lang="en" sz="7100">
                <a:solidFill>
                  <a:srgbClr val="073763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id="128" name="Google Shape;128;p25" title="Copilot_20260531_2326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400" y="220200"/>
            <a:ext cx="5319199" cy="35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2307000" y="621325"/>
            <a:ext cx="4530000" cy="48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100">
                <a:solidFill>
                  <a:srgbClr val="073763"/>
                </a:solidFill>
              </a:rPr>
              <a:t>ङ  </a:t>
            </a:r>
            <a:r>
              <a:rPr lang="en" sz="30100">
                <a:solidFill>
                  <a:srgbClr val="073763"/>
                </a:solidFill>
              </a:rPr>
              <a:t> </a:t>
            </a:r>
            <a:endParaRPr sz="301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350" y="1262063"/>
            <a:ext cx="27813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/>
        </p:nvSpPr>
        <p:spPr>
          <a:xfrm>
            <a:off x="318500" y="3617800"/>
            <a:ext cx="8564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>
                <a:solidFill>
                  <a:srgbClr val="741B47"/>
                </a:solidFill>
              </a:rPr>
              <a:t>गङ्गा</a:t>
            </a:r>
            <a:r>
              <a:rPr lang="en" sz="7100">
                <a:solidFill>
                  <a:srgbClr val="073763"/>
                </a:solidFill>
              </a:rPr>
              <a:t> - </a:t>
            </a:r>
            <a:r>
              <a:rPr lang="en" sz="7100">
                <a:solidFill>
                  <a:srgbClr val="073763"/>
                </a:solidFill>
              </a:rPr>
              <a:t>గంగ</a:t>
            </a:r>
            <a:r>
              <a:rPr lang="en" sz="7100">
                <a:solidFill>
                  <a:srgbClr val="073763"/>
                </a:solidFill>
              </a:rPr>
              <a:t> </a:t>
            </a:r>
            <a:r>
              <a:rPr lang="en" sz="7700">
                <a:solidFill>
                  <a:srgbClr val="073763"/>
                </a:solidFill>
              </a:rPr>
              <a:t>  </a:t>
            </a:r>
            <a:endParaRPr sz="7700">
              <a:solidFill>
                <a:srgbClr val="073763"/>
              </a:solidFill>
            </a:endParaRPr>
          </a:p>
        </p:txBody>
      </p:sp>
      <p:pic>
        <p:nvPicPr>
          <p:cNvPr descr="generate गङ्गा"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563" y="291075"/>
            <a:ext cx="3458875" cy="34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3577050" y="361775"/>
            <a:ext cx="1989900" cy="652800"/>
          </a:xfrm>
          <a:prstGeom prst="doubleWave">
            <a:avLst>
              <a:gd fmla="val 6250" name="adj1"/>
              <a:gd fmla="val 0" name="adj2"/>
            </a:avLst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>
                <a:solidFill>
                  <a:schemeClr val="dk1"/>
                </a:solidFill>
              </a:rPr>
              <a:t>अभ्यासः</a:t>
            </a:r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424700" y="1305550"/>
            <a:ext cx="83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२</a:t>
            </a:r>
            <a:r>
              <a:rPr b="1" lang="en" sz="1800">
                <a:solidFill>
                  <a:schemeClr val="dk1"/>
                </a:solidFill>
              </a:rPr>
              <a:t>. </a:t>
            </a:r>
            <a:r>
              <a:rPr b="1" lang="en" sz="1800">
                <a:solidFill>
                  <a:schemeClr val="dk1"/>
                </a:solidFill>
              </a:rPr>
              <a:t>क ख ग घ ङ - इति वर्तुलेन निर्दिशत</a:t>
            </a:r>
            <a:r>
              <a:rPr b="1" lang="en" sz="1800">
                <a:solidFill>
                  <a:schemeClr val="dk1"/>
                </a:solidFill>
              </a:rPr>
              <a:t> | - </a:t>
            </a:r>
            <a:r>
              <a:rPr b="1" lang="en" sz="1800">
                <a:solidFill>
                  <a:schemeClr val="dk1"/>
                </a:solidFill>
              </a:rPr>
              <a:t>వృత్తంతో గుర్తించండి </a:t>
            </a:r>
            <a:r>
              <a:rPr b="1" lang="en" sz="1800">
                <a:solidFill>
                  <a:schemeClr val="dk1"/>
                </a:solidFill>
              </a:rPr>
              <a:t> 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54" name="Google Shape;154;p29"/>
          <p:cNvGraphicFramePr/>
          <p:nvPr/>
        </p:nvGraphicFramePr>
        <p:xfrm>
          <a:off x="2425450" y="24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{A28E13EE-9DCE-4CFE-9E23-5C96DC6AEDCB}</a:tableStyleId>
              </a:tblPr>
              <a:tblGrid>
                <a:gridCol w="817675"/>
                <a:gridCol w="817675"/>
                <a:gridCol w="817675"/>
                <a:gridCol w="817675"/>
                <a:gridCol w="817675"/>
              </a:tblGrid>
              <a:tr h="38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ए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ग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अ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ई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घ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38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इ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ऐ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क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ऋ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ऊ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38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ङ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उ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अः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आ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ख </a:t>
                      </a:r>
                      <a:endParaRPr b="1" sz="1700"/>
                    </a:p>
                  </a:txBody>
                  <a:tcPr marT="91425" marB="91425" marR="91425" marL="91425">
                    <a:gradFill>
                      <a:gsLst>
                        <a:gs pos="0">
                          <a:srgbClr val="F2F2F2"/>
                        </a:gs>
                        <a:gs pos="100000">
                          <a:srgbClr val="A6A6A6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8108"/>
            </a:gs>
            <a:gs pos="100000">
              <a:srgbClr val="703D0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298875" y="220200"/>
            <a:ext cx="8603950" cy="467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00">
              <a:solidFill>
                <a:srgbClr val="A64D79"/>
              </a:solidFill>
            </a:endParaRPr>
          </a:p>
        </p:txBody>
      </p:sp>
      <p:pic>
        <p:nvPicPr>
          <p:cNvPr id="160" name="Google Shape;160;p30" title="WhatsApp Image 2026-05-25 at 2.19.59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75" y="232000"/>
            <a:ext cx="5232514" cy="4679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1" name="Google Shape;161;p30"/>
          <p:cNvSpPr/>
          <p:nvPr/>
        </p:nvSpPr>
        <p:spPr>
          <a:xfrm>
            <a:off x="6692850" y="235950"/>
            <a:ext cx="1179600" cy="466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ध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न्य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वा</a:t>
            </a:r>
            <a:endParaRPr b="1" sz="750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rgbClr val="073763"/>
                </a:solidFill>
              </a:rPr>
              <a:t>दः</a:t>
            </a:r>
            <a:endParaRPr b="1" sz="75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